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C87E2E"/>
                </a:solidFill>
                <a:latin typeface="Calibri"/>
              </a:rPr>
              <a:t>MYCORRHIZAL BARCELONA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6400" b="1">
                <a:solidFill>
                  <a:srgbClr val="F5F1E8"/>
                </a:solidFill>
                <a:latin typeface="Calibri"/>
              </a:rPr>
              <a:t>Session 3 — Closed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F5F1E8"/>
                </a:solidFill>
                <a:latin typeface="Calibri"/>
              </a:rPr>
              <a:t>CRISP-DM Phase 3 · Data Preparation Pipeline shipped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87E2E"/>
                </a:solidFill>
                <a:latin typeface="Calibri"/>
              </a:rPr>
              <a:t>v1.1 → v1.2 · 17 stages · 494 cells × 51 cols · deterministic in 5.2s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Group 4 · 2026-05-26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D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A2A1F"/>
                </a:solidFill>
                <a:latin typeface="Calibri"/>
              </a:rPr>
              <a:t>The Session 3 arc, in one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3D6B3A"/>
                </a:solidFill>
                <a:latin typeface="Calibri"/>
              </a:rPr>
              <a:t>Five moves from data to defensible priority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365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C87E2E"/>
                </a:solidFill>
                <a:latin typeface="Calibri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A2A1F"/>
                </a:solidFill>
                <a:latin typeface="Calibri"/>
              </a:rPr>
              <a:t>Started with vetted Session 2 datasets (Ajuntament trees, FungalRoot, GBIF, Urban Atlas, Landsat LST, Sentinel-2 NDVI, BCN boundary).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365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C87E2E"/>
                </a:solidFill>
                <a:latin typeface="Calibri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A2A1F"/>
                </a:solidFill>
                <a:latin typeface="Calibri"/>
              </a:rPr>
              <a:t>Built a 14-stage deterministic CRISP-DM Phase 3 pipeline — `src/clean_data.py` — producing a 495-cell × 40-col `scored_grid` with 4 sub-scores (S1 sealed, S2 LST, S3 NDVI, S4 myco) + 3 weight scenarios.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20440"/>
            <a:ext cx="365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C87E2E"/>
                </a:solidFill>
                <a:latin typeface="Calibri"/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A2A1F"/>
                </a:solidFill>
                <a:latin typeface="Calibri"/>
              </a:rPr>
              <a:t>Added v1.1 PRPI (Platanus Replacement Priority Index) — 5th term anchored to the Pla Director de l'Arbrat 2017–2037.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34840"/>
            <a:ext cx="365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C87E2E"/>
                </a:solidFill>
                <a:latin typeface="Calibri"/>
              </a:rPr>
              <a:t>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A2A1F"/>
                </a:solidFill>
                <a:latin typeface="Calibri"/>
              </a:rPr>
              <a:t>Ran a 3-stream parallel deep-research review of PRPI v1.1 → surfaced 5 evidence-based contradictions.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49240"/>
            <a:ext cx="365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C87E2E"/>
                </a:solidFill>
                <a:latin typeface="Calibri"/>
              </a:rPr>
              <a:t>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4924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A2A1F"/>
                </a:solidFill>
                <a:latin typeface="Calibri"/>
              </a:rPr>
              <a:t>Shipped v1.2 — refreshed inventory + peer-reviewed VPA + operational scenario alongside EM-optimistic. Same architecture, tighter priors.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Mycorrhizal Barcelona  ·  Session 3 Closeout  ·  2026-05-26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D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A2A1F"/>
                </a:solidFill>
                <a:latin typeface="Calibri"/>
              </a:rPr>
              <a:t>The pipeline — 17 stages,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D6B3A"/>
                </a:solidFill>
                <a:latin typeface="Calibri"/>
              </a:rPr>
              <a:t>`python src/clean_data.py` · 5.2 s · deterministic · 494 cells × 51 cols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A2A1F"/>
                </a:solidFill>
                <a:latin typeface="Calibri"/>
              </a:rPr>
              <a:t>•  1. Load tree inventory (street + park CSVs)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2A1F"/>
                </a:solidFill>
                <a:latin typeface="Calibri"/>
              </a:rPr>
              <a:t>•  2. Normalize species names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2A1F"/>
                </a:solidFill>
                <a:latin typeface="Calibri"/>
              </a:rPr>
              <a:t>•  3. FungalRoot v2.0 lookup + Top-20 override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2A1F"/>
                </a:solidFill>
                <a:latin typeface="Calibri"/>
              </a:rPr>
              <a:t>•  4. Assign mycorrhizal type per tree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2A1F"/>
                </a:solidFill>
                <a:latin typeface="Calibri"/>
              </a:rPr>
              <a:t>•  5. Build 400m grid clipped to BCN boundary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2A1F"/>
                </a:solidFill>
                <a:latin typeface="Calibri"/>
              </a:rPr>
              <a:t>•  6. Spatial join trees → grid cells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2A1F"/>
                </a:solidFill>
                <a:latin typeface="Calibri"/>
              </a:rPr>
              <a:t>•  7. Per-cell tree stats (incl. n_platanus)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2A1F"/>
                </a:solidFill>
                <a:latin typeface="Calibri"/>
              </a:rPr>
              <a:t>•  8. GBIF fungal occurrences per cell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2A1F"/>
                </a:solidFill>
                <a:latin typeface="Calibri"/>
              </a:rPr>
              <a:t>•  9. Zonal stats: sealed / LST / NDVI rasters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A2A1F"/>
                </a:solidFill>
                <a:latin typeface="Calibri"/>
              </a:rPr>
              <a:t>•  10. S1–S4 sub-scores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2A1F"/>
                </a:solidFill>
                <a:latin typeface="Calibri"/>
              </a:rPr>
              <a:t>•  11. PRPI v1.1 (EM-optimistic) — NEW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2A1F"/>
                </a:solidFill>
                <a:latin typeface="Calibri"/>
              </a:rPr>
              <a:t>•  12. VPA allergenicity + species preference — v1.2 NEW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2A1F"/>
                </a:solidFill>
                <a:latin typeface="Calibri"/>
              </a:rPr>
              <a:t>•  13. PRPI operational scenario — v1.2 NEW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2A1F"/>
                </a:solidFill>
                <a:latin typeface="Calibri"/>
              </a:rPr>
              <a:t>•  14. 5-term composite scores (A / B / C)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2A1F"/>
                </a:solidFill>
                <a:latin typeface="Calibri"/>
              </a:rPr>
              <a:t>•  15. Top-15 priority cells (district-constrained)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2A1F"/>
                </a:solidFill>
                <a:latin typeface="Calibri"/>
              </a:rPr>
              <a:t>•  16. Intervention classification (5-way)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2A1F"/>
                </a:solidFill>
                <a:latin typeface="Calibri"/>
              </a:rPr>
              <a:t>•  17. Invariants + write GeoJSON / Parquet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2A1F"/>
                </a:solidFill>
                <a:latin typeface="Calibri"/>
              </a:rPr>
              <a:t>•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Mycorrhizal Barcelona  ·  Session 3 Closeout  ·  2026-05-26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D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A2A1F"/>
                </a:solidFill>
                <a:latin typeface="Calibri"/>
              </a:rPr>
              <a:t>PRPI v1.1 — what we shipped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D6B3A"/>
                </a:solidFill>
                <a:latin typeface="Calibri"/>
              </a:rPr>
              <a:t>Platanus Replacement Priority Index — anchored to Pla Director 2017–2037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6400800" cy="1828800"/>
          </a:xfrm>
          <a:prstGeom prst="roundRect">
            <a:avLst/>
          </a:prstGeom>
          <a:solidFill>
            <a:srgbClr val="1A2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943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87E2E"/>
                </a:solidFill>
                <a:latin typeface="Calibri"/>
              </a:rPr>
              <a:t>PRPI 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5943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5F1E8"/>
                </a:solidFill>
                <a:latin typeface="Consolas"/>
              </a:rPr>
              <a:t>PRPI = 0.40 × platanus_pct/100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5943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5F1E8"/>
                </a:solidFill>
                <a:latin typeface="Consolas"/>
              </a:rPr>
              <a:t>     + 0.20 × s3_inverted_ndvi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26080"/>
            <a:ext cx="5943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5F1E8"/>
                </a:solidFill>
                <a:latin typeface="Consolas"/>
              </a:rPr>
              <a:t>     + 0.20 × s4_shift_potential   (EM-optimistic)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46120"/>
            <a:ext cx="5943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5F1E8"/>
                </a:solidFill>
                <a:latin typeface="Consolas"/>
              </a:rPr>
              <a:t>     + 0.20 × (1 − s1_sealed)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7373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A2A1F"/>
                </a:solidFill>
                <a:latin typeface="Calibri"/>
              </a:rPr>
              <a:t>Six locked design decisions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1488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A2A1F"/>
                </a:solidFill>
                <a:latin typeface="Calibri"/>
              </a:rPr>
              <a:t>•  EM-optimistic replacement (Q. ilex / P. halepensis)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2A1F"/>
                </a:solidFill>
                <a:latin typeface="Calibri"/>
              </a:rPr>
              <a:t>•  One merged score (PRPI folded into composite)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2A1F"/>
                </a:solidFill>
                <a:latin typeface="Calibri"/>
              </a:rPr>
              <a:t>•  Both enum + flag (species-replacement + replacement_priority)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2A1F"/>
                </a:solidFill>
                <a:latin typeface="Calibri"/>
              </a:rPr>
              <a:t>•  Platanus-only counting (n_platanus)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2A1F"/>
                </a:solidFill>
                <a:latin typeface="Calibri"/>
              </a:rPr>
              <a:t>•  Explicit 2037 Master Plan anchor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2A1F"/>
                </a:solidFill>
                <a:latin typeface="Calibri"/>
              </a:rPr>
              <a:t>•  s4_shift_ceiling_reached honesty flag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3D6B3A"/>
                </a:solidFill>
                <a:latin typeface="Calibri"/>
              </a:rPr>
              <a:t>Result: 47 cols · 495 cells · 15 strict-gate cells · 3 species-replacement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Mycorrhizal Barcelona  ·  Session 3 Closeout  ·  2026-05-26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D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A2A1F"/>
                </a:solidFill>
                <a:latin typeface="Calibri"/>
              </a:rPr>
              <a:t>Then we stress-tested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D6B3A"/>
                </a:solidFill>
                <a:latin typeface="Calibri"/>
              </a:rPr>
              <a:t>3-stream parallel deep-research review (academia / practice / open source)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657600" cy="4572000"/>
          </a:xfrm>
          <a:prstGeom prst="roundRect">
            <a:avLst/>
          </a:prstGeom>
          <a:solidFill>
            <a:srgbClr val="F5F1E8"/>
          </a:solidFill>
          <a:ln w="25400">
            <a:solidFill>
              <a:srgbClr val="3D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3D6B3A"/>
                </a:solidFill>
                <a:latin typeface="Calibri"/>
              </a:rPr>
              <a:t>Stream 1 · Academia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1A2A1F"/>
                </a:solidFill>
                <a:latin typeface="Calibri"/>
              </a:rPr>
              <a:t>•  Platanus pollen allergy in Mediterranean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2A1F"/>
                </a:solidFill>
                <a:latin typeface="Calibri"/>
              </a:rPr>
              <a:t>•  Urban pollen dispersion models (SILAM / CAMS / COSMO-ART)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2A1F"/>
                </a:solidFill>
                <a:latin typeface="Calibri"/>
              </a:rPr>
              <a:t>•  Allergenicity rankings of replacement species (VPA / OPALS)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2A1F"/>
                </a:solidFill>
                <a:latin typeface="Calibri"/>
              </a:rPr>
              <a:t>•  Mycorrhizal-type effects in urban substrate (Verbeek 2025)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2A1F"/>
                </a:solidFill>
                <a:latin typeface="Calibri"/>
              </a:rPr>
              <a:t>•  Aerobiology monitoring networks (REA / XAC / EAN / AutoPollen)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657600" cy="4572000"/>
          </a:xfrm>
          <a:prstGeom prst="roundRect">
            <a:avLst/>
          </a:prstGeom>
          <a:solidFill>
            <a:srgbClr val="F5F1E8"/>
          </a:solidFill>
          <a:ln w="25400">
            <a:solidFill>
              <a:srgbClr val="C87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C87E2E"/>
                </a:solidFill>
                <a:latin typeface="Calibri"/>
              </a:rPr>
              <a:t>Stream 2 ·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1A2A1F"/>
                </a:solidFill>
                <a:latin typeface="Calibri"/>
              </a:rPr>
              <a:t>•  Pla Director 2017–2037 verification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2A1F"/>
                </a:solidFill>
                <a:latin typeface="Calibri"/>
              </a:rPr>
              <a:t>•  Eixos Verds + Superilla projects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2A1F"/>
                </a:solidFill>
                <a:latin typeface="Calibri"/>
              </a:rPr>
              <a:t>•  ASPB / XAC engagement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2A1F"/>
                </a:solidFill>
                <a:latin typeface="Calibri"/>
              </a:rPr>
              <a:t>•  Comparators: Madrid · Sevilla · Marseille · Rome · Athens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2A1F"/>
                </a:solidFill>
                <a:latin typeface="Calibri"/>
              </a:rPr>
              <a:t>•  Pilot species performance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2A1F"/>
                </a:solidFill>
                <a:latin typeface="Calibri"/>
              </a:rPr>
              <a:t>•  Public engagement (Decidim)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737360"/>
            <a:ext cx="3657600" cy="4572000"/>
          </a:xfrm>
          <a:prstGeom prst="roundRect">
            <a:avLst/>
          </a:prstGeom>
          <a:solidFill>
            <a:srgbClr val="F5F1E8"/>
          </a:solidFill>
          <a:ln w="25400">
            <a:solidFill>
              <a:srgbClr val="B23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82880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B23A2B"/>
                </a:solidFill>
                <a:latin typeface="Calibri"/>
              </a:rPr>
              <a:t>Stream 3 · Open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37744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1A2A1F"/>
                </a:solidFill>
                <a:latin typeface="Calibri"/>
              </a:rPr>
              <a:t>•  Pollen models: CAMS · SILAM · HYSPLIT · ENFUSER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2A1F"/>
                </a:solidFill>
                <a:latin typeface="Calibri"/>
              </a:rPr>
              <a:t>•  Tree inventory + canopy: DeepForest · DetecTree · OpenTrees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2A1F"/>
                </a:solidFill>
                <a:latin typeface="Calibri"/>
              </a:rPr>
              <a:t>•  Mycorrhizal toolkits: FungalRoot v2 · FUNGuild · GlobalAMFungi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2A1F"/>
                </a:solidFill>
                <a:latin typeface="Calibri"/>
              </a:rPr>
              <a:t>•  Allergenicity datasets: OPALS · PIA Catalonia · OpenAQ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2A1F"/>
                </a:solidFill>
                <a:latin typeface="Calibri"/>
              </a:rPr>
              <a:t>•  Reproducible repos surveyed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Output: 5,800-word APA 7 report · 30+ refs · `outputs/deep-research-platanus-prpi.md`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Mycorrhizal Barcelona  ·  Session 3 Closeout  ·  2026-05-26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B2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A2A1F"/>
                </a:solidFill>
                <a:latin typeface="Calibri"/>
              </a:rPr>
              <a:t>What the evidence said about PRPI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B23A2B"/>
                </a:solidFill>
                <a:latin typeface="Calibri"/>
              </a:rPr>
              <a:t>Five contradictions — each tightens v1.1 rather than overturning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B23A2B"/>
                </a:solidFill>
                <a:latin typeface="Calibri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A2A1F"/>
                </a:solidFill>
                <a:latin typeface="Calibri"/>
              </a:rPr>
              <a:t>The asthma claim doesn't survive scrutiny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10698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Osborne et al. (2017, London n=8.2M): NO significant Platanus → asthma association at any lag. Grass pollen DID. Real burden is rhinoconjunctivitis + Pla a 3 food-allergy cross-reactivity (peach / walnut / hazelnut).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B23A2B"/>
                </a:solidFill>
                <a:latin typeface="Calibri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A2A1F"/>
                </a:solidFill>
                <a:latin typeface="Calibri"/>
              </a:rPr>
              <a:t>Quercus ilex inverts the public-health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10698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Que i 1 = Bet v 1 homolog, VPA IV–V — same allergenicity class as Platanus (Cariñanos &amp; Marinangeli 2021; González-Mancebo et al. 2020). Substitution shifts the peak, doesn't reduce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B23A2B"/>
                </a:solidFill>
                <a:latin typeface="Calibri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204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A2A1F"/>
                </a:solidFill>
                <a:latin typeface="Calibri"/>
              </a:rPr>
              <a:t>AM → EM substrate effect is hypothesis, not delivered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86200"/>
            <a:ext cx="10698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Verbeek et al. (2025, Amsterdam) and Gaimaro et al. (2025, Fairfax VA): urban AM communities shift composition rather than collapse, engineered substrate co-drives colonization.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3484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B23A2B"/>
                </a:solidFill>
                <a:latin typeface="Calibri"/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A2A1F"/>
                </a:solidFill>
                <a:latin typeface="Calibri"/>
              </a:rPr>
              <a:t>Barcelona already pilots Zelkova + Pistacia, not Q. ilex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00600"/>
            <a:ext cx="10698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Espais Verds operational documentation names Zelkova serrata and Pistacia chinensis as drought-tolerant low-VPA pilots. Q. ilex is not the headline replacement.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4924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B23A2B"/>
                </a:solidFill>
                <a:latin typeface="Calibri"/>
              </a:rPr>
              <a:t>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49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A2A1F"/>
                </a:solidFill>
                <a:latin typeface="Calibri"/>
              </a:rPr>
              <a:t>Inventory snapshot was stale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15000"/>
            <a:ext cx="10698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Brief: 42,828 / 22.6%. Municipal canon (2026): ~43,722 / 27.5%. Open Data BCN `arbrat-viari` 2026_1T release is fresher.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Mycorrhizal Barcelona  ·  Session 3 Closeout  ·  2026-05-26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87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1A2A1F"/>
                </a:solidFill>
                <a:latin typeface="Calibri"/>
              </a:rPr>
              <a:t>The v1.2 pivot — small, additive, fully explainable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87E2E"/>
                </a:solidFill>
                <a:latin typeface="Calibri"/>
              </a:rPr>
              <a:t>Same architecture · same 2037 anchor · same 6 locked decisions · tighter priors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3D6B3A"/>
                </a:solidFill>
                <a:latin typeface="Calibri"/>
              </a:rPr>
              <a:t>Kept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A2A1F"/>
                </a:solidFill>
                <a:latin typeface="Calibri"/>
              </a:rPr>
              <a:t>•  Composite 5-term architecture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2A1F"/>
                </a:solidFill>
                <a:latin typeface="Calibri"/>
              </a:rPr>
              <a:t>•  Pla Director 2017–2037 policy anchor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2A1F"/>
                </a:solidFill>
                <a:latin typeface="Calibri"/>
              </a:rPr>
              <a:t>•  Six v1.1 locked design decisions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2A1F"/>
                </a:solidFill>
                <a:latin typeface="Calibri"/>
              </a:rPr>
              <a:t>•  replacement_priority strict gate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2A1F"/>
                </a:solidFill>
                <a:latin typeface="Calibri"/>
              </a:rPr>
              <a:t>•  s4_shift_ceiling_reached honesty flag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2A1F"/>
                </a:solidFill>
                <a:latin typeface="Calibri"/>
              </a:rPr>
              <a:t>•  EM-optimistic scenario (now: upper-bound sensitivity)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916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C87E2E"/>
                </a:solidFill>
                <a:latin typeface="Calibri"/>
              </a:rPr>
              <a:t>Added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A2A1F"/>
                </a:solidFill>
                <a:latin typeface="Calibri"/>
              </a:rPr>
              <a:t>•  Refreshed arbrat-viari → 2026_1T snapshot (188,991 trees)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2A1F"/>
                </a:solidFill>
                <a:latin typeface="Calibri"/>
              </a:rPr>
              <a:t>•  Cariñanos &amp; Marinangeli 2021 VPA scale (40 species CSV)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2A1F"/>
                </a:solidFill>
                <a:latin typeface="Calibri"/>
              </a:rPr>
              <a:t>•  cell_vpa_score column (count-weighted mean VPA)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2A1F"/>
                </a:solidFill>
                <a:latin typeface="Calibri"/>
              </a:rPr>
              <a:t>•  vpa_replacement_delta column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2A1F"/>
                </a:solidFill>
                <a:latin typeface="Calibri"/>
              </a:rPr>
              <a:t>•  species_preference_present column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2A1F"/>
                </a:solidFill>
                <a:latin typeface="Calibri"/>
              </a:rPr>
              <a:t>•  prpi_operational scenario (Zelkova/Pistacia palette)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2A1F"/>
                </a:solidFill>
                <a:latin typeface="Calibri"/>
              </a:rPr>
              <a:t>•  Re-scoped docstrings: asthma → rhinoconjunctivitis + Pla a 3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2A1F"/>
                </a:solidFill>
                <a:latin typeface="Calibri"/>
              </a:rPr>
              <a:t>•  s4_shift_potential reframed as upper-bound hypothesis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Mycorrhizal Barcelona  ·  Session 3 Closeout  ·  2026-05-26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D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A2A1F"/>
                </a:solidFill>
                <a:latin typeface="Calibri"/>
              </a:rPr>
              <a:t>v1.2 headline stats (2026_1T snapshot)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D6B3A"/>
                </a:solidFill>
                <a:latin typeface="Calibri"/>
              </a:rPr>
              <a:t>Pipeline run 2026-05-26 · 5.2 s · all 17 invariants pass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474720" cy="1463040"/>
          </a:xfrm>
          <a:prstGeom prst="roundRect">
            <a:avLst/>
          </a:prstGeom>
          <a:solidFill>
            <a:srgbClr val="F5F1E8"/>
          </a:solidFill>
          <a:ln w="19050">
            <a:solidFill>
              <a:srgbClr val="3D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Cells × columns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31089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3D6B3A"/>
                </a:solidFill>
                <a:latin typeface="Calibri"/>
              </a:rPr>
              <a:t>494 × 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v1.1 was 495 ×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737360"/>
            <a:ext cx="3474720" cy="1463040"/>
          </a:xfrm>
          <a:prstGeom prst="roundRect">
            <a:avLst/>
          </a:prstGeom>
          <a:solidFill>
            <a:srgbClr val="F5F1E8"/>
          </a:solidFill>
          <a:ln w="19050">
            <a:solidFill>
              <a:srgbClr val="3D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828800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Platanus trees in grid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03120"/>
            <a:ext cx="31089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3D6B3A"/>
                </a:solidFill>
                <a:latin typeface="Calibri"/>
              </a:rPr>
              <a:t>42,815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788920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of 42,828 baseline (0.03% boundary edge)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474720" cy="1463040"/>
          </a:xfrm>
          <a:prstGeom prst="roundRect">
            <a:avLst/>
          </a:prstGeom>
          <a:solidFill>
            <a:srgbClr val="F5F1E8"/>
          </a:solidFill>
          <a:ln w="19050">
            <a:solidFill>
              <a:srgbClr val="3D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Pipeline 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03120"/>
            <a:ext cx="31089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3D6B3A"/>
                </a:solidFill>
                <a:latin typeface="Calibri"/>
              </a:rPr>
              <a:t>5.2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788920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deterministic, single-machine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83280"/>
            <a:ext cx="3474720" cy="1463040"/>
          </a:xfrm>
          <a:prstGeom prst="roundRect">
            <a:avLst/>
          </a:prstGeom>
          <a:solidFill>
            <a:srgbClr val="F5F1E8"/>
          </a:solidFill>
          <a:ln w="19050">
            <a:solidFill>
              <a:srgbClr val="3D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prpi range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49040"/>
            <a:ext cx="31089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3D6B3A"/>
                </a:solidFill>
                <a:latin typeface="Calibri"/>
              </a:rPr>
              <a:t>[0.15, 0.83]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34840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EM-optimistic scenario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383280"/>
            <a:ext cx="3474720" cy="1463040"/>
          </a:xfrm>
          <a:prstGeom prst="roundRect">
            <a:avLst/>
          </a:prstGeom>
          <a:solidFill>
            <a:srgbClr val="F5F1E8"/>
          </a:solidFill>
          <a:ln w="19050">
            <a:solidFill>
              <a:srgbClr val="C87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474720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prpi_operational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749040"/>
            <a:ext cx="31089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C87E2E"/>
                </a:solidFill>
                <a:latin typeface="Calibri"/>
              </a:rPr>
              <a:t>[0.15, 0.73]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434840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Zelkova/Pistacia palette · 0.10 lower peak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383280"/>
            <a:ext cx="3474720" cy="1463040"/>
          </a:xfrm>
          <a:prstGeom prst="roundRect">
            <a:avLst/>
          </a:prstGeom>
          <a:solidFill>
            <a:srgbClr val="F5F1E8"/>
          </a:solidFill>
          <a:ln w="19050">
            <a:solidFill>
              <a:srgbClr val="B23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474720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Threshold disagreement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749040"/>
            <a:ext cx="31089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B23A2B"/>
                </a:solidFill>
                <a:latin typeface="Calibri"/>
              </a:rPr>
              <a:t>17 cells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434840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where the policy choice matters most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029200"/>
            <a:ext cx="3474720" cy="1463040"/>
          </a:xfrm>
          <a:prstGeom prst="roundRect">
            <a:avLst/>
          </a:prstGeom>
          <a:solidFill>
            <a:srgbClr val="F5F1E8"/>
          </a:solidFill>
          <a:ln w="19050">
            <a:solidFill>
              <a:srgbClr val="3D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120640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replacement_priority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394960"/>
            <a:ext cx="31089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3D6B3A"/>
                </a:solidFill>
                <a:latin typeface="Calibri"/>
              </a:rPr>
              <a:t>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080760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strict-gate flagged cells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5029200"/>
            <a:ext cx="3474720" cy="1463040"/>
          </a:xfrm>
          <a:prstGeom prst="roundRect">
            <a:avLst/>
          </a:prstGeom>
          <a:solidFill>
            <a:srgbClr val="F5F1E8"/>
          </a:solidFill>
          <a:ln w="19050">
            <a:solidFill>
              <a:srgbClr val="3D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0" y="5120640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Ceiling-reached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5394960"/>
            <a:ext cx="31089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3D6B3A"/>
                </a:solidFill>
                <a:latin typeface="Calibri"/>
              </a:rPr>
              <a:t>164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6080760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AM-blindness honestly flagged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5029200"/>
            <a:ext cx="3474720" cy="1463040"/>
          </a:xfrm>
          <a:prstGeom prst="roundRect">
            <a:avLst/>
          </a:prstGeom>
          <a:solidFill>
            <a:srgbClr val="F5F1E8"/>
          </a:solidFill>
          <a:ln w="19050">
            <a:solidFill>
              <a:srgbClr val="3D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5120640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Intervention enum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5394960"/>
            <a:ext cx="31089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3D6B3A"/>
                </a:solidFill>
                <a:latin typeface="Calibri"/>
              </a:rPr>
              <a:t>459 / 24 / 7 / 3 /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6080760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de-paving · cooling · planting · replace · multi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Mycorrhizal Barcelona  ·  Session 3 Closeout  ·  2026-05-26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B2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A2A1F"/>
                </a:solidFill>
                <a:latin typeface="Calibri"/>
              </a:rPr>
              <a:t>The 17-cell disagreement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B23A2B"/>
                </a:solidFill>
                <a:latin typeface="Calibri"/>
              </a:rPr>
              <a:t>Cells where EM-optimistic and operational scenarios disagree at PRPI &gt; 0.5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A2A1F"/>
                </a:solidFill>
                <a:latin typeface="Calibri"/>
              </a:rPr>
              <a:t>Why these 17 cells matter most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A2A1F"/>
                </a:solidFill>
                <a:latin typeface="Calibri"/>
              </a:rPr>
              <a:t>•  EM-optimistic (v1.1): 32 cells above threshold — assumes Q. ilex / P. halepensis substitution.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2A1F"/>
                </a:solidFill>
                <a:latin typeface="Calibri"/>
              </a:rPr>
              <a:t>•  Operational (v1.2): 15 cells above threshold — assumes Zelkova / Pistacia / Sophora substitution.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2A1F"/>
                </a:solidFill>
                <a:latin typeface="Calibri"/>
              </a:rPr>
              <a:t>•  17 cells are in only one set — the species-choice changes the recommendation here.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2A1F"/>
                </a:solidFill>
                <a:latin typeface="Calibri"/>
              </a:rPr>
              <a:t>•  These are the cells where Direcció d'Espais Verds should preference the Zelkova/Pistacia palette over a Q. ilex spec.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2A1F"/>
                </a:solidFill>
                <a:latin typeface="Calibri"/>
              </a:rPr>
              <a:t>•  Both scenarios remain auditable — downstream consumers can compare per-cell.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C87E2E"/>
                </a:solidFill>
                <a:latin typeface="Calibri"/>
              </a:rPr>
              <a:t>Pivot logic — "this is what the city is actually doing"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23560"/>
            <a:ext cx="11155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Barcelona's Espais Verds pilots Zelkova + Pistacia precisely because they sit in VPA class I–III, are drought-tolerant under +2 °C, and avoid the Platanus → Pla a 3 food-allergy bridge. The EM-optimistic scenario remains useful as a mycorrhizal-ecology upper-bound test; the operational scenario is what gets recommended.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Mycorrhizal Barcelona  ·  Session 3 Closeout  ·  2026-05-26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D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A2A1F"/>
                </a:solidFill>
                <a:latin typeface="Calibri"/>
              </a:rPr>
              <a:t>What ships in the repo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D6B3A"/>
                </a:solidFill>
                <a:latin typeface="Calibri"/>
              </a:rPr>
              <a:t>Session 3 deliverables — committed, deterministic, reproducible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3D6B3A"/>
                </a:solidFill>
                <a:latin typeface="Calibri"/>
              </a:rPr>
              <a:t>Code &amp;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A2A1F"/>
                </a:solidFill>
                <a:latin typeface="Consolas"/>
              </a:rPr>
              <a:t>•  src/clean_data.py — 17-stage pipeline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2A1F"/>
                </a:solidFill>
                <a:latin typeface="Consolas"/>
              </a:rPr>
              <a:t>•  data/raw/vpa-mediterranean-species.csv — 40-species VPA table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2A1F"/>
                </a:solidFill>
                <a:latin typeface="Consolas"/>
              </a:rPr>
              <a:t>•  data/arbrat-viari.csv — 2026_1T snapshot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2A1F"/>
                </a:solidFill>
                <a:latin typeface="Consolas"/>
              </a:rPr>
              <a:t>•  data/arbrat-viari-prev-snapshot.csv — diff/rollback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2A1F"/>
                </a:solidFill>
                <a:latin typeface="Consolas"/>
              </a:rPr>
              <a:t>•  data/processed/scored_grid.geojson + .parquet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2A1F"/>
                </a:solidFill>
                <a:latin typeface="Consolas"/>
              </a:rPr>
              <a:t>•  requirements.txt — Python 3.11 wheels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916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C87E2E"/>
                </a:solidFill>
                <a:latin typeface="Calibri"/>
              </a:rPr>
              <a:t>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A2A1F"/>
                </a:solidFill>
                <a:latin typeface="Consolas"/>
              </a:rPr>
              <a:t>•  phase-3/data-contract.yaml — schema v1.2.0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2A1F"/>
                </a:solidFill>
                <a:latin typeface="Consolas"/>
              </a:rPr>
              <a:t>•  docs/data-cleaning-log.md — 16 transforms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2A1F"/>
                </a:solidFill>
                <a:latin typeface="Consolas"/>
              </a:rPr>
              <a:t>•  docs/pipeline-architecture-v1.md — 17-component spec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2A1F"/>
                </a:solidFill>
                <a:latin typeface="Consolas"/>
              </a:rPr>
              <a:t>•  outputs/pipeline-results-interpretation.md — §1–§10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2A1F"/>
                </a:solidFill>
                <a:latin typeface="Consolas"/>
              </a:rPr>
              <a:t>•  outputs/deep-research-platanus-prpi.md — 5,800 words, 30+ refs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2A1F"/>
                </a:solidFill>
                <a:latin typeface="Consolas"/>
              </a:rPr>
              <a:t>•  HANDOFF.md — Session 4 entry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Mycorrhizal Barcelona  ·  Session 3 Closeout  ·  2026-05-26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A2A1F"/>
                </a:solidFill>
                <a:latin typeface="Calibri"/>
              </a:rPr>
              <a:t>What this pipeline is NOT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Per Session 4 lecture: every model card states at least 3 NOTs.  We have 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365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B23A2B"/>
                </a:solidFill>
                <a:latin typeface="Calibri"/>
              </a:rP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A2A1F"/>
                </a:solidFill>
                <a:latin typeface="Calibri"/>
              </a:rPr>
              <a:t>NOT a severe-asthma intervention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698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Osborne et al. (2017) found no Platanus → asthma association. Re-scope to rhinoconjunctivitis + Pla a 3 food-allergy.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365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B23A2B"/>
                </a:solidFill>
                <a:latin typeface="Calibri"/>
              </a:rP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A2A1F"/>
                </a:solidFill>
                <a:latin typeface="Calibri"/>
              </a:rPr>
              <a:t>NOT a guaranteed mycorrhizal-restoration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10698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s4_shift_potential is an upper-bound hypothesis — engineered substrate may dominate over host species effects (Verbeek et al. 2025).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365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B23A2B"/>
                </a:solidFill>
                <a:latin typeface="Calibr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11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A2A1F"/>
                </a:solidFill>
                <a:latin typeface="Calibri"/>
              </a:rPr>
              <a:t>NOT a high-resolution pollen-dispersion forecast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77640"/>
            <a:ext cx="10698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No European model resolves the 400m grid (SILAM/CAMS at ~10 km). Local point ground-truth via XAC / PIA UAB only.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26280"/>
            <a:ext cx="365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B23A2B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262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A2A1F"/>
                </a:solidFill>
                <a:latin typeface="Calibri"/>
              </a:rPr>
              <a:t>NOT a substitute for clinical or regulatory air-quality 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10698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VPA proxies allergenic potential, not exposure or sensitization in any specific cohort.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440680"/>
            <a:ext cx="365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B23A2B"/>
                </a:solidFill>
                <a:latin typeface="Calibri"/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40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A2A1F"/>
                </a:solidFill>
                <a:latin typeface="Calibri"/>
              </a:rPr>
              <a:t>NOT valid outside the trained spatial extent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06440"/>
            <a:ext cx="10698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Index is bounded to Barcelona's 400m grid. Peri-urban (Collserola / Garraf) reference patch is still missing — flagged in Session 4 agenda.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Mycorrhizal Barcelona  ·  Session 3 Closeout  ·  2026-05-26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C87E2E"/>
                </a:solidFill>
                <a:latin typeface="Calibri"/>
              </a:rPr>
              <a:t>Session 4 — Modeling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5F1E8"/>
                </a:solidFill>
                <a:latin typeface="Calibri"/>
              </a:rPr>
              <a:t>scored_grid.parquet is the modeling-ready 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5394960" cy="1828800"/>
          </a:xfrm>
          <a:prstGeom prst="roundRect">
            <a:avLst/>
          </a:prstGeom>
          <a:solidFill>
            <a:srgbClr val="253A2C"/>
          </a:solidFill>
          <a:ln w="19050">
            <a:solidFill>
              <a:srgbClr val="C87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606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C87E2E"/>
                </a:solidFill>
                <a:latin typeface="Calibri"/>
              </a:rPr>
              <a:t>Split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017520"/>
            <a:ext cx="502920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5F1E8"/>
                </a:solidFill>
                <a:latin typeface="Calibri"/>
              </a:rPr>
              <a:t>Spatial / clustered hold-out (NOT random rows).  Hold out districts or k-means on (lat, lon).  Test set is locked.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468880"/>
            <a:ext cx="5394960" cy="1828800"/>
          </a:xfrm>
          <a:prstGeom prst="roundRect">
            <a:avLst/>
          </a:prstGeom>
          <a:solidFill>
            <a:srgbClr val="253A2C"/>
          </a:solidFill>
          <a:ln w="19050">
            <a:solidFill>
              <a:srgbClr val="C87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606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C87E2E"/>
                </a:solidFill>
                <a:latin typeface="Calibri"/>
              </a:rPr>
              <a:t>Baselines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017520"/>
            <a:ext cx="502920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5F1E8"/>
                </a:solidFill>
                <a:latin typeface="Calibri"/>
              </a:rPr>
              <a:t>Dumb mean · spatial nearest · domain heuristic (e.g. Eixample = high barrier).  Beating these is the bar.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480560"/>
            <a:ext cx="5394960" cy="1828800"/>
          </a:xfrm>
          <a:prstGeom prst="roundRect">
            <a:avLst/>
          </a:prstGeom>
          <a:solidFill>
            <a:srgbClr val="253A2C"/>
          </a:solidFill>
          <a:ln w="19050">
            <a:solidFill>
              <a:srgbClr val="C87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461772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C87E2E"/>
                </a:solidFill>
                <a:latin typeface="Calibri"/>
              </a:rPr>
              <a:t>Metrics + model card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5029200"/>
            <a:ext cx="502920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5F1E8"/>
                </a:solidFill>
                <a:latin typeface="Calibri"/>
              </a:rPr>
              <a:t>Linear models first.  Report ≥ 3 NOTs.  Train / eval / test metrics — never just one number.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480560"/>
            <a:ext cx="5394960" cy="1828800"/>
          </a:xfrm>
          <a:prstGeom prst="roundRect">
            <a:avLst/>
          </a:prstGeom>
          <a:solidFill>
            <a:srgbClr val="253A2C"/>
          </a:solidFill>
          <a:ln w="19050">
            <a:solidFill>
              <a:srgbClr val="C87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61772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C87E2E"/>
                </a:solidFill>
                <a:latin typeface="Calibri"/>
              </a:rPr>
              <a:t>Sensitivity scenarios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029200"/>
            <a:ext cx="502920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5F1E8"/>
                </a:solidFill>
                <a:latin typeface="Calibri"/>
              </a:rPr>
              <a:t>Both prpi (EM-optimistic) and prpi_operational available.  Scenario B composite_score_B is the primary target.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87E2E"/>
                </a:solidFill>
                <a:latin typeface="Calibri"/>
              </a:rPr>
              <a:t>Read HANDOFF.md to resume.  CRISP-DM Phase 4 is loaded and ready.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